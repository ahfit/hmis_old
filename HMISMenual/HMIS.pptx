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56" r:id="rId3"/>
    <p:sldId id="257" r:id="rId4"/>
    <p:sldId id="275" r:id="rId5"/>
    <p:sldId id="260" r:id="rId6"/>
    <p:sldId id="268" r:id="rId7"/>
    <p:sldId id="27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015" autoAdjust="0"/>
    <p:restoredTop sz="94660"/>
  </p:normalViewPr>
  <p:slideViewPr>
    <p:cSldViewPr snapToGrid="0">
      <p:cViewPr varScale="1">
        <p:scale>
          <a:sx n="72" d="100"/>
          <a:sy n="72" d="100"/>
        </p:scale>
        <p:origin x="3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39178-F13B-46C9-89F4-11DFFC249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89D974-D9A9-4A93-A7A9-96E7314A5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BBE99-0FE0-4665-B1A9-BB66F8268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68F76-0FA8-4A64-8998-C06A2841F127}" type="datetimeFigureOut">
              <a:rPr lang="en-US" smtClean="0"/>
              <a:t>3/13/2018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E1914-C90A-401E-8990-EF57C1C50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661D9-D38B-4AF6-A39C-98FF19972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6D61B-99D6-4556-9C04-085F7C5A9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929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F4CEC-EFEF-4E5F-9425-55656477F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4080F-BC63-4826-A840-B9F9F630B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41B81-DB83-48D5-8594-49FD3E0CE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68F76-0FA8-4A64-8998-C06A2841F127}" type="datetimeFigureOut">
              <a:rPr lang="en-US" smtClean="0"/>
              <a:t>3/13/2018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AF7C6-A6B4-4F3A-A542-759E5D9A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81779-69B9-49F0-B281-87F909D27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6D61B-99D6-4556-9C04-085F7C5A9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703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4F02E-26AB-402B-8C91-EDFC7419D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7F5E8-034C-4873-81EA-B2DC29D04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7E4EE-C473-4E41-941E-59CA7DD29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68F76-0FA8-4A64-8998-C06A2841F127}" type="datetimeFigureOut">
              <a:rPr lang="en-US" smtClean="0"/>
              <a:t>3/13/2018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A0BD9-19C1-4E57-AA87-EB0B306A6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DF6D1-1E19-4A56-AA3A-69897D2F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6D61B-99D6-4556-9C04-085F7C5A9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532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5BB55-A082-44E6-B472-36E16781C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1AD74-1E01-4988-A9FD-12F3EF9ED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EDB15-0DFB-4F33-8E5E-E7396A9F6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70D8A-C5B4-4E49-BEE8-9F2B2267D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68F76-0FA8-4A64-8998-C06A2841F127}" type="datetimeFigureOut">
              <a:rPr lang="en-US" smtClean="0"/>
              <a:t>3/13/2018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B4C57-97A7-4A40-A1F1-90DD9A2F4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6318B-0BAE-448A-BD5A-B0A983BCD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6D61B-99D6-4556-9C04-085F7C5A9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014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EB0BE-E135-46CB-9409-CCA305F68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528E6-C5DD-4C6A-9EDB-DE5ED4A0C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218E4-FCD7-47F8-9D73-AB7ECE2C9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008FAD-5BA4-456E-825D-BC581574F8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A5E1C3-6698-462C-AAF9-3ED9225F96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50E1F8-10E3-49E2-AEDC-79CA4605E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68F76-0FA8-4A64-8998-C06A2841F127}" type="datetimeFigureOut">
              <a:rPr lang="en-US" smtClean="0"/>
              <a:t>3/13/2018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9B3F5-F668-41DF-BE30-DAC32A56C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6326D8-D790-45A7-A70F-58547B65A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6D61B-99D6-4556-9C04-085F7C5A9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08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BA05E-B1EC-4378-BFBD-9AD8EBCB7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241920-8813-4EAD-9675-2C55DECF8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68F76-0FA8-4A64-8998-C06A2841F127}" type="datetimeFigureOut">
              <a:rPr lang="en-US" smtClean="0"/>
              <a:t>3/13/2018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BA5E95-FACA-4B25-9BD8-CEE2BDAFF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B0F772-DADF-4BEA-A5B3-FFEBF9E6F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6D61B-99D6-4556-9C04-085F7C5A9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517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FC05B3-0648-4C61-863A-4D4D787AC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68F76-0FA8-4A64-8998-C06A2841F127}" type="datetimeFigureOut">
              <a:rPr lang="en-US" smtClean="0"/>
              <a:t>3/13/2018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C0793E-226D-4BCB-902A-12D8DBDCE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1BAB2-423E-45D2-BF09-0F74BC55B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6D61B-99D6-4556-9C04-085F7C5A9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451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D2166-E536-442F-90D8-B4D93682E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323C7-A877-45D4-83F0-A35854341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93D870-5C0E-4EE5-9EFB-F1F477BA1C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D650B-12DF-4B07-83C1-917726A9C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68F76-0FA8-4A64-8998-C06A2841F127}" type="datetimeFigureOut">
              <a:rPr lang="en-US" smtClean="0"/>
              <a:t>3/13/2018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4FA78-9C88-4792-8781-A049EDD3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68BEC-735A-49BF-AE56-E2B5A1553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6D61B-99D6-4556-9C04-085F7C5A9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99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5A428-32F4-4396-8544-076A91616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608590-2E36-40FC-9FCB-BAEE98841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C1EE79-5AE9-4AA7-B103-BBD194EAF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C85449-E8D1-4B2A-82EE-E31322156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68F76-0FA8-4A64-8998-C06A2841F127}" type="datetimeFigureOut">
              <a:rPr lang="en-US" smtClean="0"/>
              <a:t>3/13/2018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A28420-DD07-4C45-9090-ADD187294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C86351-E988-4BF2-B946-0B9986942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6D61B-99D6-4556-9C04-085F7C5A9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559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7AC08-B4B0-40DF-BF03-67A90EBF0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3C4F8C-FE94-4BA7-8BE3-79C59F1AD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A6907-8D8E-4269-AFF8-F99DAB0C2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68F76-0FA8-4A64-8998-C06A2841F127}" type="datetimeFigureOut">
              <a:rPr lang="en-US" smtClean="0"/>
              <a:t>3/13/2018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3F3A-50C2-4976-B8C6-6B03A3F3B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2C6B8-467E-48C8-8006-DF6AC8D5C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6D61B-99D6-4556-9C04-085F7C5A9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58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51ED7B-BD77-4740-B7A2-A5A9F8D65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978823-2537-4E1B-80E4-545508C34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6E00-723E-4CFC-9108-714E7255F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68F76-0FA8-4A64-8998-C06A2841F127}" type="datetimeFigureOut">
              <a:rPr lang="en-US" smtClean="0"/>
              <a:t>3/13/2018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04222-E6EA-465C-9F30-C7E18E655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1B2BE-9176-4618-B769-49316C539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6D61B-99D6-4556-9C04-085F7C5A9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76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B141CA-D68A-4230-BC13-EF23DB7E3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E019C-2A30-4D50-9E0E-C6D89FF3F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7096D-C54C-484E-81DD-3CCC146970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568F76-0FA8-4A64-8998-C06A2841F127}" type="datetimeFigureOut">
              <a:rPr lang="en-US" smtClean="0"/>
              <a:t>3/13/2018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AD168-FCD4-40FF-963C-ADF2A5094F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F5AED-6A34-4C47-AAA4-785339B95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6D61B-99D6-4556-9C04-085F7C5A9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755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http://192.168.0.126/Demo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E90BDF-753D-4097-822F-FE19D8BCF405}"/>
              </a:ext>
            </a:extLst>
          </p:cNvPr>
          <p:cNvSpPr/>
          <p:nvPr/>
        </p:nvSpPr>
        <p:spPr>
          <a:xfrm>
            <a:off x="0" y="4910647"/>
            <a:ext cx="12192000" cy="194735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  <p:pic>
        <p:nvPicPr>
          <p:cNvPr id="4" name="Picture 4" descr="http://www.clipartbest.com/cliparts/dc7/eke/dc7ekedzi.png">
            <a:extLst>
              <a:ext uri="{FF2B5EF4-FFF2-40B4-BE49-F238E27FC236}">
                <a16:creationId xmlns:a16="http://schemas.microsoft.com/office/drawing/2014/main" id="{F8050A71-659C-4E23-ABF0-FAFF6D670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782" y="56102"/>
            <a:ext cx="8243691" cy="434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C948BA0-30B5-4686-97F2-355CB1E9A604}"/>
              </a:ext>
            </a:extLst>
          </p:cNvPr>
          <p:cNvSpPr/>
          <p:nvPr/>
        </p:nvSpPr>
        <p:spPr>
          <a:xfrm>
            <a:off x="1525191" y="5334000"/>
            <a:ext cx="9141619" cy="769427"/>
          </a:xfrm>
          <a:prstGeom prst="rect">
            <a:avLst/>
          </a:prstGeom>
        </p:spPr>
        <p:txBody>
          <a:bodyPr wrap="square" lIns="91426" tIns="45713" rIns="91426" bIns="45713">
            <a:spAutoFit/>
          </a:bodyPr>
          <a:lstStyle/>
          <a:p>
            <a:pPr algn="ctr" eaLnBrk="1" hangingPunct="1"/>
            <a:r>
              <a:rPr lang="ur-PK" sz="4400" dirty="0">
                <a:solidFill>
                  <a:schemeClr val="bg1"/>
                </a:solidFill>
                <a:latin typeface="Jameel Noori Nastaleeq" pitchFamily="2" charset="-78"/>
                <a:cs typeface="Jameel Noori Nastaleeq" pitchFamily="2" charset="-78"/>
              </a:rPr>
              <a:t> شُروع اَللہ کے پاک نام سے جو بڑا مہر بان نہايت رحم والا ہے </a:t>
            </a:r>
            <a:endParaRPr lang="en-US" sz="4400" b="1" dirty="0">
              <a:solidFill>
                <a:schemeClr val="bg1"/>
              </a:solidFill>
              <a:latin typeface="Jameel Noori Nastaleeq" pitchFamily="2" charset="-78"/>
              <a:cs typeface="Jameel Noori Nastaleeq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834749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6309BC-8635-42CA-AFA5-5E88A19125F8}"/>
              </a:ext>
            </a:extLst>
          </p:cNvPr>
          <p:cNvSpPr/>
          <p:nvPr/>
        </p:nvSpPr>
        <p:spPr>
          <a:xfrm>
            <a:off x="0" y="2152356"/>
            <a:ext cx="7353415" cy="31160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D1E4ACD8-FCFC-4133-89CA-9F472E738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670" y="2853981"/>
            <a:ext cx="2100076" cy="160020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E66CB4-1C6C-40D9-9E4D-EBC68529E9AC}"/>
              </a:ext>
            </a:extLst>
          </p:cNvPr>
          <p:cNvSpPr/>
          <p:nvPr/>
        </p:nvSpPr>
        <p:spPr>
          <a:xfrm>
            <a:off x="7353415" y="2152355"/>
            <a:ext cx="4829207" cy="31160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005EAF0-67AA-41D4-BA36-96E82FA14E13}"/>
              </a:ext>
            </a:extLst>
          </p:cNvPr>
          <p:cNvSpPr txBox="1">
            <a:spLocks/>
          </p:cNvSpPr>
          <p:nvPr/>
        </p:nvSpPr>
        <p:spPr>
          <a:xfrm>
            <a:off x="5327373" y="507252"/>
            <a:ext cx="6425067" cy="31160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700" b="1" dirty="0">
                <a:solidFill>
                  <a:schemeClr val="bg1"/>
                </a:solidFill>
              </a:rPr>
              <a:t>HEALTH MANAGEMENT</a:t>
            </a: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3700" b="1" dirty="0">
                <a:solidFill>
                  <a:schemeClr val="bg1"/>
                </a:solidFill>
              </a:rPr>
              <a:t>INFORMATION SYSTEM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A36F55-F343-4E0E-B5E4-A10A93AE5BE9}"/>
              </a:ext>
            </a:extLst>
          </p:cNvPr>
          <p:cNvSpPr/>
          <p:nvPr/>
        </p:nvSpPr>
        <p:spPr>
          <a:xfrm flipV="1">
            <a:off x="1604" y="2039740"/>
            <a:ext cx="7353415" cy="6806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054E7C-37C2-4A49-9E31-E18A20527E1C}"/>
              </a:ext>
            </a:extLst>
          </p:cNvPr>
          <p:cNvSpPr/>
          <p:nvPr/>
        </p:nvSpPr>
        <p:spPr>
          <a:xfrm flipV="1">
            <a:off x="7380096" y="2039740"/>
            <a:ext cx="4754880" cy="680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21FC0D-C6DF-4398-AD45-36647ACEEE17}"/>
              </a:ext>
            </a:extLst>
          </p:cNvPr>
          <p:cNvSpPr/>
          <p:nvPr/>
        </p:nvSpPr>
        <p:spPr>
          <a:xfrm>
            <a:off x="-30480" y="5408575"/>
            <a:ext cx="12222480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INFORMATION TECHNOLOGY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EDE77C-3676-484F-807E-3BBAF05EFF60}"/>
              </a:ext>
            </a:extLst>
          </p:cNvPr>
          <p:cNvSpPr/>
          <p:nvPr/>
        </p:nvSpPr>
        <p:spPr>
          <a:xfrm>
            <a:off x="-23336" y="6234744"/>
            <a:ext cx="12222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www.alkhidmat.org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EDA762-815B-4159-ABBD-DCF0892AC419}"/>
              </a:ext>
            </a:extLst>
          </p:cNvPr>
          <p:cNvSpPr/>
          <p:nvPr/>
        </p:nvSpPr>
        <p:spPr>
          <a:xfrm>
            <a:off x="0" y="6240077"/>
            <a:ext cx="12192000" cy="3735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86A987-2485-412C-A525-E4FAF1826209}"/>
              </a:ext>
            </a:extLst>
          </p:cNvPr>
          <p:cNvSpPr/>
          <p:nvPr/>
        </p:nvSpPr>
        <p:spPr>
          <a:xfrm>
            <a:off x="0" y="6221365"/>
            <a:ext cx="123363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www.alkhidmat.org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DE82C4-EBDE-4CB6-97E2-EA5464D4D775}"/>
              </a:ext>
            </a:extLst>
          </p:cNvPr>
          <p:cNvSpPr/>
          <p:nvPr/>
        </p:nvSpPr>
        <p:spPr>
          <a:xfrm>
            <a:off x="7380096" y="3763472"/>
            <a:ext cx="42288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Impact" panose="020B0806030902050204" pitchFamily="34" charset="0"/>
              </a:rPr>
              <a:t>HMIS</a:t>
            </a:r>
            <a:endParaRPr lang="en-US" sz="54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584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/>
      <p:bldP spid="11" grpId="0" animBg="1"/>
      <p:bldP spid="12" grpId="0" animBg="1"/>
      <p:bldP spid="13" grpId="0" animBg="1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177D34-973F-4B06-9B1E-FF4F82EF46E7}"/>
              </a:ext>
            </a:extLst>
          </p:cNvPr>
          <p:cNvSpPr/>
          <p:nvPr/>
        </p:nvSpPr>
        <p:spPr>
          <a:xfrm>
            <a:off x="-1" y="341866"/>
            <a:ext cx="8261685" cy="7232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HMIS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698261-193D-4BD3-8E61-47C5F3054E60}"/>
              </a:ext>
            </a:extLst>
          </p:cNvPr>
          <p:cNvSpPr/>
          <p:nvPr/>
        </p:nvSpPr>
        <p:spPr>
          <a:xfrm>
            <a:off x="8261684" y="343503"/>
            <a:ext cx="3930316" cy="723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E12D35-7270-449A-9ABC-FF4685BB4C8B}"/>
              </a:ext>
            </a:extLst>
          </p:cNvPr>
          <p:cNvSpPr/>
          <p:nvPr/>
        </p:nvSpPr>
        <p:spPr>
          <a:xfrm>
            <a:off x="0" y="6240077"/>
            <a:ext cx="12192000" cy="3735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1E144D-D3C5-4A14-958D-1613F943448C}"/>
              </a:ext>
            </a:extLst>
          </p:cNvPr>
          <p:cNvSpPr/>
          <p:nvPr/>
        </p:nvSpPr>
        <p:spPr>
          <a:xfrm>
            <a:off x="8392631" y="633278"/>
            <a:ext cx="30106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/>
              <a:t>INFORMATION TECHNOLOGY </a:t>
            </a:r>
            <a:endParaRPr lang="en-US" u="sng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47F45-6E42-4C71-A8C7-1E07EF4ABE50}"/>
              </a:ext>
            </a:extLst>
          </p:cNvPr>
          <p:cNvSpPr/>
          <p:nvPr/>
        </p:nvSpPr>
        <p:spPr>
          <a:xfrm>
            <a:off x="318049" y="1918154"/>
            <a:ext cx="5592420" cy="3477875"/>
          </a:xfrm>
          <a:prstGeom prst="rect">
            <a:avLst/>
          </a:prstGeom>
          <a:solidFill>
            <a:srgbClr val="C00000"/>
          </a:solidFill>
          <a:ln w="5715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Patient Registration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Outpatient Management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Radiology Management Information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Laboratory Management Information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General Store Management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Pharmacy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Human Resource Management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Medical Store Management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Payroll Management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5F70A6-3533-416B-B7EB-06D641C2EAF2}"/>
              </a:ext>
            </a:extLst>
          </p:cNvPr>
          <p:cNvSpPr/>
          <p:nvPr/>
        </p:nvSpPr>
        <p:spPr>
          <a:xfrm>
            <a:off x="6096000" y="1918154"/>
            <a:ext cx="5777951" cy="3477875"/>
          </a:xfrm>
          <a:prstGeom prst="rect">
            <a:avLst/>
          </a:prstGeom>
          <a:solidFill>
            <a:srgbClr val="C00000"/>
          </a:solidFill>
          <a:ln w="5715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Financial Accounting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Patient Billing/Receipt Management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In-Patient Management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Nursing Counter and Ward Management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Operation Theatre Management System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Intensive Care Unit Management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Medical Record Management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Blood Bank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Doctor Share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170526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177D34-973F-4B06-9B1E-FF4F82EF46E7}"/>
              </a:ext>
            </a:extLst>
          </p:cNvPr>
          <p:cNvSpPr/>
          <p:nvPr/>
        </p:nvSpPr>
        <p:spPr>
          <a:xfrm>
            <a:off x="0" y="94669"/>
            <a:ext cx="8261685" cy="7675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698261-193D-4BD3-8E61-47C5F3054E60}"/>
              </a:ext>
            </a:extLst>
          </p:cNvPr>
          <p:cNvSpPr/>
          <p:nvPr/>
        </p:nvSpPr>
        <p:spPr>
          <a:xfrm>
            <a:off x="8261684" y="94669"/>
            <a:ext cx="3930316" cy="723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E12D35-7270-449A-9ABC-FF4685BB4C8B}"/>
              </a:ext>
            </a:extLst>
          </p:cNvPr>
          <p:cNvSpPr/>
          <p:nvPr/>
        </p:nvSpPr>
        <p:spPr>
          <a:xfrm>
            <a:off x="0" y="6240077"/>
            <a:ext cx="12192000" cy="3735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1E144D-D3C5-4A14-958D-1613F943448C}"/>
              </a:ext>
            </a:extLst>
          </p:cNvPr>
          <p:cNvSpPr/>
          <p:nvPr/>
        </p:nvSpPr>
        <p:spPr>
          <a:xfrm>
            <a:off x="8737052" y="198709"/>
            <a:ext cx="21219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How it Works…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47F45-6E42-4C71-A8C7-1E07EF4ABE50}"/>
              </a:ext>
            </a:extLst>
          </p:cNvPr>
          <p:cNvSpPr/>
          <p:nvPr/>
        </p:nvSpPr>
        <p:spPr>
          <a:xfrm>
            <a:off x="2068692" y="817944"/>
            <a:ext cx="2411256" cy="4401205"/>
          </a:xfrm>
          <a:prstGeom prst="rect">
            <a:avLst/>
          </a:prstGeom>
          <a:solidFill>
            <a:srgbClr val="C00000"/>
          </a:solidFill>
          <a:ln w="57150">
            <a:noFill/>
          </a:ln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OPD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RMS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LMS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Pharmacy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MSMS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Payroll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Billing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IPD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Nursing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Blood Bank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Doctor Share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5F70A6-3533-416B-B7EB-06D641C2EAF2}"/>
              </a:ext>
            </a:extLst>
          </p:cNvPr>
          <p:cNvSpPr/>
          <p:nvPr/>
        </p:nvSpPr>
        <p:spPr>
          <a:xfrm>
            <a:off x="5451879" y="3225982"/>
            <a:ext cx="1909173" cy="523220"/>
          </a:xfrm>
          <a:prstGeom prst="rect">
            <a:avLst/>
          </a:prstGeom>
          <a:solidFill>
            <a:srgbClr val="C00000"/>
          </a:solidFill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ACCOUNTS</a:t>
            </a:r>
            <a:endParaRPr lang="en-US" sz="2800" b="1" dirty="0"/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8244F647-F49D-4A77-96A3-924E4EE8E595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>
            <a:off x="1238744" y="2357435"/>
            <a:ext cx="829948" cy="661112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EDF90C2-EC8D-463F-A33C-2C75C1D5E585}"/>
              </a:ext>
            </a:extLst>
          </p:cNvPr>
          <p:cNvSpPr txBox="1"/>
          <p:nvPr/>
        </p:nvSpPr>
        <p:spPr>
          <a:xfrm>
            <a:off x="531598" y="1925649"/>
            <a:ext cx="1361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Cost Centers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FC616D33-E230-4C2F-8AA4-87BC9990FC5F}"/>
              </a:ext>
            </a:extLst>
          </p:cNvPr>
          <p:cNvCxnSpPr>
            <a:cxnSpLocks/>
          </p:cNvCxnSpPr>
          <p:nvPr/>
        </p:nvCxnSpPr>
        <p:spPr>
          <a:xfrm>
            <a:off x="4461915" y="3054745"/>
            <a:ext cx="988975" cy="414135"/>
          </a:xfrm>
          <a:prstGeom prst="bentConnector3">
            <a:avLst/>
          </a:prstGeom>
          <a:ln w="28575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1632FDB1-E665-4A56-9E36-08F83F378841}"/>
              </a:ext>
            </a:extLst>
          </p:cNvPr>
          <p:cNvSpPr/>
          <p:nvPr/>
        </p:nvSpPr>
        <p:spPr>
          <a:xfrm>
            <a:off x="8160960" y="2294981"/>
            <a:ext cx="2411256" cy="523220"/>
          </a:xfrm>
          <a:prstGeom prst="rect">
            <a:avLst/>
          </a:prstGeom>
          <a:solidFill>
            <a:srgbClr val="C00000"/>
          </a:solidFill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Management</a:t>
            </a:r>
            <a:endParaRPr lang="en-US" sz="2800" b="1" dirty="0"/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FFBA17F-CCF0-42D6-8711-A0F45F6655BD}"/>
              </a:ext>
            </a:extLst>
          </p:cNvPr>
          <p:cNvCxnSpPr>
            <a:cxnSpLocks/>
            <a:stCxn id="3" idx="3"/>
            <a:endCxn id="22" idx="1"/>
          </p:cNvCxnSpPr>
          <p:nvPr/>
        </p:nvCxnSpPr>
        <p:spPr>
          <a:xfrm flipV="1">
            <a:off x="7361052" y="2556591"/>
            <a:ext cx="799908" cy="931001"/>
          </a:xfrm>
          <a:prstGeom prst="bentConnector3">
            <a:avLst>
              <a:gd name="adj1" fmla="val 50000"/>
            </a:avLst>
          </a:prstGeom>
          <a:ln w="28575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81EC2F7-1DFA-4895-AC99-E842D38F469D}"/>
              </a:ext>
            </a:extLst>
          </p:cNvPr>
          <p:cNvSpPr txBox="1"/>
          <p:nvPr/>
        </p:nvSpPr>
        <p:spPr>
          <a:xfrm>
            <a:off x="5538815" y="3814379"/>
            <a:ext cx="23571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Accounts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Daily Income/Expense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Complete Requirements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Taxes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Claims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Salary/Facilities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AA7541-3F07-43C0-B337-49B550176E4C}"/>
              </a:ext>
            </a:extLst>
          </p:cNvPr>
          <p:cNvSpPr txBox="1"/>
          <p:nvPr/>
        </p:nvSpPr>
        <p:spPr>
          <a:xfrm>
            <a:off x="8501795" y="2930473"/>
            <a:ext cx="2357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Reports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Decision Making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AFF1FB3C-77B6-45CE-8D55-8E4400EF6AD0}"/>
              </a:ext>
            </a:extLst>
          </p:cNvPr>
          <p:cNvCxnSpPr>
            <a:cxnSpLocks/>
            <a:stCxn id="22" idx="0"/>
          </p:cNvCxnSpPr>
          <p:nvPr/>
        </p:nvCxnSpPr>
        <p:spPr>
          <a:xfrm rot="16200000" flipV="1">
            <a:off x="6648967" y="-422641"/>
            <a:ext cx="530572" cy="4904671"/>
          </a:xfrm>
          <a:prstGeom prst="bentConnector2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829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2" grpId="0"/>
      <p:bldP spid="2" grpId="0" animBg="1"/>
      <p:bldP spid="3" grpId="0" animBg="1"/>
      <p:bldP spid="6" grpId="0"/>
      <p:bldP spid="22" grpId="0" animBg="1"/>
      <p:bldP spid="26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EB8FCD-4E62-47DB-B1B7-670BC85FD59D}"/>
              </a:ext>
            </a:extLst>
          </p:cNvPr>
          <p:cNvSpPr/>
          <p:nvPr/>
        </p:nvSpPr>
        <p:spPr>
          <a:xfrm>
            <a:off x="0" y="6240077"/>
            <a:ext cx="12192000" cy="3735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7A737F-B4C0-4FF8-918B-ADBC61401210}"/>
              </a:ext>
            </a:extLst>
          </p:cNvPr>
          <p:cNvSpPr/>
          <p:nvPr/>
        </p:nvSpPr>
        <p:spPr>
          <a:xfrm>
            <a:off x="1" y="970412"/>
            <a:ext cx="8261685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2F6863-E85D-4591-BA13-35A9809A5B1E}"/>
              </a:ext>
            </a:extLst>
          </p:cNvPr>
          <p:cNvSpPr/>
          <p:nvPr/>
        </p:nvSpPr>
        <p:spPr>
          <a:xfrm>
            <a:off x="0" y="405803"/>
            <a:ext cx="81493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u="sng" dirty="0">
                <a:solidFill>
                  <a:schemeClr val="bg1"/>
                </a:solidFill>
              </a:rPr>
              <a:t>Health Management Information System</a:t>
            </a:r>
            <a:endParaRPr lang="en-US" sz="4000" u="sng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76F425-E373-4396-B630-2BBF8E166221}"/>
              </a:ext>
            </a:extLst>
          </p:cNvPr>
          <p:cNvSpPr/>
          <p:nvPr/>
        </p:nvSpPr>
        <p:spPr>
          <a:xfrm>
            <a:off x="8261687" y="267303"/>
            <a:ext cx="3930316" cy="723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EDB2783-009F-4BA1-8ECE-018D5172D77E}"/>
              </a:ext>
            </a:extLst>
          </p:cNvPr>
          <p:cNvSpPr/>
          <p:nvPr/>
        </p:nvSpPr>
        <p:spPr>
          <a:xfrm>
            <a:off x="641682" y="1927431"/>
            <a:ext cx="3400926" cy="887130"/>
          </a:xfrm>
          <a:prstGeom prst="roundRect">
            <a:avLst/>
          </a:prstGeom>
          <a:solidFill>
            <a:srgbClr val="FF0000"/>
          </a:solidFill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/>
              <a:t>COST CENTER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62FA8FB-E13C-488A-8054-7B85932C4EDC}"/>
              </a:ext>
            </a:extLst>
          </p:cNvPr>
          <p:cNvSpPr/>
          <p:nvPr/>
        </p:nvSpPr>
        <p:spPr>
          <a:xfrm>
            <a:off x="2294013" y="3832310"/>
            <a:ext cx="3400926" cy="887130"/>
          </a:xfrm>
          <a:prstGeom prst="roundRect">
            <a:avLst/>
          </a:prstGeom>
          <a:solidFill>
            <a:srgbClr val="FF0000"/>
          </a:solidFill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/>
              <a:t>USERS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5FA2D1D-96C0-4260-84C3-522514EDE28F}"/>
              </a:ext>
            </a:extLst>
          </p:cNvPr>
          <p:cNvSpPr/>
          <p:nvPr/>
        </p:nvSpPr>
        <p:spPr>
          <a:xfrm>
            <a:off x="4347411" y="1927431"/>
            <a:ext cx="3400926" cy="887130"/>
          </a:xfrm>
          <a:prstGeom prst="roundRect">
            <a:avLst/>
          </a:prstGeom>
          <a:solidFill>
            <a:srgbClr val="FF0000"/>
          </a:solidFill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/>
              <a:t>FUNCTIONALITIES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A6EDFC8-B226-4222-858E-3E84E545F806}"/>
              </a:ext>
            </a:extLst>
          </p:cNvPr>
          <p:cNvSpPr/>
          <p:nvPr/>
        </p:nvSpPr>
        <p:spPr>
          <a:xfrm>
            <a:off x="8053140" y="1927431"/>
            <a:ext cx="3400926" cy="887130"/>
          </a:xfrm>
          <a:prstGeom prst="roundRect">
            <a:avLst/>
          </a:prstGeom>
          <a:solidFill>
            <a:srgbClr val="FF0000"/>
          </a:solidFill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/>
              <a:t>AUTHORITIES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46D278A-54C4-441F-A57C-54C2D5D925CE}"/>
              </a:ext>
            </a:extLst>
          </p:cNvPr>
          <p:cNvSpPr/>
          <p:nvPr/>
        </p:nvSpPr>
        <p:spPr>
          <a:xfrm>
            <a:off x="6047874" y="3832310"/>
            <a:ext cx="3400926" cy="887130"/>
          </a:xfrm>
          <a:prstGeom prst="roundRect">
            <a:avLst/>
          </a:prstGeom>
          <a:solidFill>
            <a:srgbClr val="FF0000"/>
          </a:solidFill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/>
              <a:t>FINANCE</a:t>
            </a:r>
          </a:p>
        </p:txBody>
      </p:sp>
      <p:sp>
        <p:nvSpPr>
          <p:cNvPr id="3" name="Arrow: Curved Down 2">
            <a:extLst>
              <a:ext uri="{FF2B5EF4-FFF2-40B4-BE49-F238E27FC236}">
                <a16:creationId xmlns:a16="http://schemas.microsoft.com/office/drawing/2014/main" id="{0504EF06-B3E9-4130-B69B-6E5FBA66B017}"/>
              </a:ext>
            </a:extLst>
          </p:cNvPr>
          <p:cNvSpPr/>
          <p:nvPr/>
        </p:nvSpPr>
        <p:spPr>
          <a:xfrm>
            <a:off x="3304661" y="1386117"/>
            <a:ext cx="1379629" cy="51576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Arrow: Curved Down 19">
            <a:extLst>
              <a:ext uri="{FF2B5EF4-FFF2-40B4-BE49-F238E27FC236}">
                <a16:creationId xmlns:a16="http://schemas.microsoft.com/office/drawing/2014/main" id="{1A99E5E3-D526-41DC-8D62-DD12DD6D258E}"/>
              </a:ext>
            </a:extLst>
          </p:cNvPr>
          <p:cNvSpPr/>
          <p:nvPr/>
        </p:nvSpPr>
        <p:spPr>
          <a:xfrm>
            <a:off x="7058522" y="1411670"/>
            <a:ext cx="1379629" cy="51576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Arrow: Curved Down 20">
            <a:extLst>
              <a:ext uri="{FF2B5EF4-FFF2-40B4-BE49-F238E27FC236}">
                <a16:creationId xmlns:a16="http://schemas.microsoft.com/office/drawing/2014/main" id="{99B242E0-44EA-49F6-B628-3C421E4AE91B}"/>
              </a:ext>
            </a:extLst>
          </p:cNvPr>
          <p:cNvSpPr/>
          <p:nvPr/>
        </p:nvSpPr>
        <p:spPr>
          <a:xfrm>
            <a:off x="5181592" y="3316549"/>
            <a:ext cx="1379629" cy="51576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6DCBC96-4C50-413B-8B37-60A83D5303A5}"/>
              </a:ext>
            </a:extLst>
          </p:cNvPr>
          <p:cNvCxnSpPr>
            <a:cxnSpLocks/>
            <a:stCxn id="16" idx="3"/>
          </p:cNvCxnSpPr>
          <p:nvPr/>
        </p:nvCxnSpPr>
        <p:spPr>
          <a:xfrm flipH="1">
            <a:off x="3881992" y="2370996"/>
            <a:ext cx="7572074" cy="768526"/>
          </a:xfrm>
          <a:prstGeom prst="bentConnector3">
            <a:avLst>
              <a:gd name="adj1" fmla="val -3019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C6C9A49-F614-433D-B5C2-75C9EE3FBD0A}"/>
              </a:ext>
            </a:extLst>
          </p:cNvPr>
          <p:cNvCxnSpPr>
            <a:cxnSpLocks/>
          </p:cNvCxnSpPr>
          <p:nvPr/>
        </p:nvCxnSpPr>
        <p:spPr>
          <a:xfrm>
            <a:off x="3910506" y="3069948"/>
            <a:ext cx="0" cy="76290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CDA3DA4-A259-4C2A-907E-18663F1BBA00}"/>
              </a:ext>
            </a:extLst>
          </p:cNvPr>
          <p:cNvSpPr/>
          <p:nvPr/>
        </p:nvSpPr>
        <p:spPr>
          <a:xfrm>
            <a:off x="4260924" y="5238744"/>
            <a:ext cx="3400926" cy="887130"/>
          </a:xfrm>
          <a:prstGeom prst="roundRect">
            <a:avLst/>
          </a:prstGeom>
          <a:solidFill>
            <a:srgbClr val="FF0000"/>
          </a:solidFill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/>
              <a:t>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53703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15" grpId="0" animBg="1"/>
      <p:bldP spid="16" grpId="0" animBg="1"/>
      <p:bldP spid="18" grpId="0" animBg="1"/>
      <p:bldP spid="3" grpId="0" animBg="1"/>
      <p:bldP spid="20" grpId="0" animBg="1"/>
      <p:bldP spid="21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F7A737F-B4C0-4FF8-918B-ADBC61401210}"/>
              </a:ext>
            </a:extLst>
          </p:cNvPr>
          <p:cNvSpPr/>
          <p:nvPr/>
        </p:nvSpPr>
        <p:spPr>
          <a:xfrm>
            <a:off x="-1" y="2391935"/>
            <a:ext cx="8261685" cy="172497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2F6863-E85D-4591-BA13-35A9809A5B1E}"/>
              </a:ext>
            </a:extLst>
          </p:cNvPr>
          <p:cNvSpPr/>
          <p:nvPr/>
        </p:nvSpPr>
        <p:spPr>
          <a:xfrm>
            <a:off x="-2" y="2655437"/>
            <a:ext cx="814939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8000" u="sng" dirty="0">
                <a:solidFill>
                  <a:schemeClr val="bg1"/>
                </a:solidFill>
                <a:latin typeface="Impact" panose="020B0806030902050204" pitchFamily="34" charset="0"/>
                <a:hlinkClick r:id="rId2"/>
              </a:rPr>
              <a:t>DEMO</a:t>
            </a:r>
            <a:r>
              <a:rPr lang="en-US" sz="8800" u="sng" dirty="0">
                <a:solidFill>
                  <a:schemeClr val="bg1"/>
                </a:solidFill>
                <a:latin typeface="Impact" panose="020B0806030902050204" pitchFamily="34" charset="0"/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76F425-E373-4396-B630-2BBF8E166221}"/>
              </a:ext>
            </a:extLst>
          </p:cNvPr>
          <p:cNvSpPr/>
          <p:nvPr/>
        </p:nvSpPr>
        <p:spPr>
          <a:xfrm>
            <a:off x="8261685" y="2391936"/>
            <a:ext cx="3930316" cy="1724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E7BE2A-B2A9-4E8D-B17B-8658F093E1F9}"/>
              </a:ext>
            </a:extLst>
          </p:cNvPr>
          <p:cNvSpPr/>
          <p:nvPr/>
        </p:nvSpPr>
        <p:spPr>
          <a:xfrm>
            <a:off x="8416576" y="3216967"/>
            <a:ext cx="146386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u="sng" dirty="0">
                <a:solidFill>
                  <a:srgbClr val="FF0000"/>
                </a:solidFill>
                <a:latin typeface="Impact" panose="020B0806030902050204" pitchFamily="34" charset="0"/>
              </a:rPr>
              <a:t>HMIS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003201-81FD-46AA-8F9F-38A08826A349}"/>
              </a:ext>
            </a:extLst>
          </p:cNvPr>
          <p:cNvSpPr/>
          <p:nvPr/>
        </p:nvSpPr>
        <p:spPr>
          <a:xfrm>
            <a:off x="-2" y="4178712"/>
            <a:ext cx="826168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rgbClr val="FF0000"/>
                </a:solidFill>
              </a:rPr>
              <a:t>INFORMATION TECHNOLOGY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535F33-62F6-404E-B8FE-CF78A0907596}"/>
              </a:ext>
            </a:extLst>
          </p:cNvPr>
          <p:cNvSpPr/>
          <p:nvPr/>
        </p:nvSpPr>
        <p:spPr>
          <a:xfrm>
            <a:off x="8261685" y="1984239"/>
            <a:ext cx="3930316" cy="369333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r"/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541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96EF22C-9CD6-46A2-9C0D-CEE6230B127D}"/>
              </a:ext>
            </a:extLst>
          </p:cNvPr>
          <p:cNvSpPr/>
          <p:nvPr/>
        </p:nvSpPr>
        <p:spPr>
          <a:xfrm>
            <a:off x="323667" y="3813719"/>
            <a:ext cx="455595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THANKS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3EAFD1-24C3-4321-83CA-89054561F621}"/>
              </a:ext>
            </a:extLst>
          </p:cNvPr>
          <p:cNvSpPr/>
          <p:nvPr/>
        </p:nvSpPr>
        <p:spPr>
          <a:xfrm>
            <a:off x="8587409" y="0"/>
            <a:ext cx="2765424" cy="48370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832248D6-D52C-4FDB-8FCE-F3D4461A5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0083" y="3013618"/>
            <a:ext cx="2100076" cy="160020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0E39BD1-645E-4F15-B49A-0F5174F5A96D}"/>
              </a:ext>
            </a:extLst>
          </p:cNvPr>
          <p:cNvSpPr/>
          <p:nvPr/>
        </p:nvSpPr>
        <p:spPr>
          <a:xfrm>
            <a:off x="323667" y="4569908"/>
            <a:ext cx="455595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b="1" dirty="0"/>
              <a:t>INFORMATION TECHNOLOGY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4FD151-7B02-4653-9AF8-9FEE4E059DB8}"/>
              </a:ext>
            </a:extLst>
          </p:cNvPr>
          <p:cNvSpPr/>
          <p:nvPr/>
        </p:nvSpPr>
        <p:spPr>
          <a:xfrm>
            <a:off x="8587410" y="4924711"/>
            <a:ext cx="2765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www.alkhidmat.org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437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144</Words>
  <Application>Microsoft Office PowerPoint</Application>
  <PresentationFormat>Widescreen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Impact</vt:lpstr>
      <vt:lpstr>Jameel Noori Nastaleeq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YSRHK</dc:creator>
  <cp:lastModifiedBy>YSRHK</cp:lastModifiedBy>
  <cp:revision>256</cp:revision>
  <dcterms:created xsi:type="dcterms:W3CDTF">2017-12-26T15:31:06Z</dcterms:created>
  <dcterms:modified xsi:type="dcterms:W3CDTF">2018-03-13T13:00:09Z</dcterms:modified>
</cp:coreProperties>
</file>